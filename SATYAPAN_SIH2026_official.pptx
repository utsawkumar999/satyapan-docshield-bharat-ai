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91" y="23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Fill the Problem Statement ID, Theme, Team ID and Team Name from the SIH portal before exporting to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Lead with the chip point. Verifying a government cryptographic signature is a different class of claim from a model score, and it is demonstrable live with a low-cost NFC reader.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If asked why edge rather than cloud: frontier posts have poor connectivity, and biometric data must not leave Indian government infrastructure.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This slide answers the obvious objection - that the project depends on access a student team cannot get. Database lookups only catch documents already reported; the AI catches forgeries that are on no list anywhere.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Do not overclaim accuracy numbers we have not measured. The defensible claims are speed, consistency, evidentiary quality and explainability.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If a judge asks what to read first, point to ICAO Doc 9303 Parts 11 and 12 - chip security and the PKI - because that is the technical core of the whole problem.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783080"/>
            <a:ext cx="603504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8016" indent="-12801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Problem Statement ID –</a:t>
            </a:r>
            <a:r>
              <a:rPr sz="1300" b="0">
                <a:solidFill>
                  <a:srgbClr val="1A1A1A"/>
                </a:solidFill>
                <a:latin typeface="Arial"/>
              </a:rPr>
              <a:t>  ____________</a:t>
            </a:r>
            <a:endParaRPr lang="en-US" dirty="0"/>
          </a:p>
          <a:p>
            <a:pPr marL="128016" indent="-128016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Problem Statement Title-</a:t>
            </a:r>
            <a:r>
              <a:rPr sz="1300" b="0">
                <a:solidFill>
                  <a:srgbClr val="1A1A1A"/>
                </a:solidFill>
                <a:latin typeface="Arial"/>
              </a:rPr>
              <a:t>  AI-Based Fake Identity &amp; Document Screening System</a:t>
            </a:r>
          </a:p>
          <a:p>
            <a:pPr marL="128016" indent="-128016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Theme-</a:t>
            </a:r>
            <a:r>
              <a:rPr sz="1300" b="0">
                <a:solidFill>
                  <a:srgbClr val="1A1A1A"/>
                </a:solidFill>
                <a:latin typeface="Arial"/>
              </a:rPr>
              <a:t>  ____________</a:t>
            </a:r>
          </a:p>
          <a:p>
            <a:pPr marL="128016" indent="-128016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PS Category-</a:t>
            </a:r>
            <a:r>
              <a:rPr sz="1300" b="0">
                <a:solidFill>
                  <a:srgbClr val="1A1A1A"/>
                </a:solidFill>
                <a:latin typeface="Arial"/>
              </a:rPr>
              <a:t>  Software</a:t>
            </a:r>
          </a:p>
          <a:p>
            <a:pPr marL="128016" indent="-128016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Team ID-</a:t>
            </a:r>
            <a:r>
              <a:rPr sz="1300" b="0">
                <a:solidFill>
                  <a:srgbClr val="1A1A1A"/>
                </a:solidFill>
                <a:latin typeface="Arial"/>
              </a:rPr>
              <a:t>  ____________</a:t>
            </a:r>
          </a:p>
          <a:p>
            <a:pPr marL="128016" indent="-128016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300" b="1" i="0" u="none">
                <a:solidFill>
                  <a:srgbClr val="1F3864"/>
                </a:solidFill>
                <a:latin typeface="Arial"/>
              </a:rPr>
              <a:t>Team Name (Registered on portal)-</a:t>
            </a:r>
            <a:r>
              <a:rPr sz="1300" b="0">
                <a:solidFill>
                  <a:srgbClr val="1A1A1A"/>
                </a:solidFill>
                <a:latin typeface="Arial"/>
              </a:rPr>
              <a:t>  ____________</a:t>
            </a:r>
          </a:p>
          <a:p>
            <a:pPr marL="0" indent="0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0070C0"/>
                </a:solidFill>
                <a:latin typeface="Arial"/>
              </a:rPr>
              <a:t>Solution name:  SATYAPAN</a:t>
            </a:r>
          </a:p>
          <a:p>
            <a:pPr marL="0" indent="0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100" b="0" i="1" u="none">
                <a:solidFill>
                  <a:srgbClr val="444C54"/>
                </a:solidFill>
                <a:latin typeface="Arial"/>
              </a:rPr>
              <a:t>सत्यापन — verification</a:t>
            </a:r>
          </a:p>
          <a:p>
            <a:pPr marL="0" indent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444C54"/>
                </a:solidFill>
                <a:latin typeface="Arial"/>
              </a:rPr>
              <a:t>Raised by:  Sashastra Seema Bal (SSB), Police II Division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184" y="45720"/>
            <a:ext cx="9235440" cy="1051560"/>
          </a:xfrm>
        </p:spPr>
        <p:txBody>
          <a:bodyPr wrap="square"/>
          <a:lstStyle/>
          <a:p>
            <a:pPr algn="ctr" eaLnBrk="1" hangingPunct="1">
              <a:lnSpc>
                <a:spcPct val="92000"/>
              </a:lnSpc>
            </a:pPr>
            <a:r>
              <a:rPr sz="3200" b="1" dirty="0">
                <a:solidFill>
                  <a:srgbClr val="1F3864"/>
                </a:solidFill>
                <a:latin typeface="Times New Roman"/>
              </a:rPr>
              <a:t>SATYAPAN</a:t>
            </a:r>
          </a:p>
          <a:p>
            <a:pPr algn="ctr">
              <a:lnSpc>
                <a:spcPct val="92000"/>
              </a:lnSpc>
            </a:pPr>
            <a:r>
              <a:rPr sz="1900" b="1" dirty="0">
                <a:solidFill>
                  <a:srgbClr val="1A1A1A"/>
                </a:solidFill>
                <a:latin typeface="Times New Roman"/>
              </a:rPr>
              <a:t>AI-Based Fake Identity &amp; Document Screening 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184" y="1170432"/>
            <a:ext cx="1152144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/>
          <a:lstStyle/>
          <a:p>
            <a:pPr marL="219456" indent="-21945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❖"/>
            </a:pPr>
            <a:r>
              <a:rPr sz="1500" b="1" i="0" u="sng">
                <a:solidFill>
                  <a:srgbClr val="0070C0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250" b="1" i="0" u="none">
                <a:solidFill>
                  <a:srgbClr val="1F3864"/>
                </a:solidFill>
                <a:latin typeface="Arial"/>
              </a:rPr>
              <a:t>Detailed explanation of the proposed solution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Five modules over one capture: OCR extraction → document validation → tampering detection → face verification → identity resolution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Reads passport, visa, national ID, driving licence and permits — MRZ (ICAO 9303), printed visual zone, and the ePassport RFID chip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Risk engine fuses every signal into CLEAR / REVIEW / REFER with named reasons and a heatmap on the document — in under 3 seconds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Runs on a local GPU box at the counter: offline-capable, no cloud, no traveller data leaving government infrastructure</a:t>
            </a:r>
          </a:p>
          <a:p>
            <a:pPr marL="0" indent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250" b="1" i="0" u="none">
                <a:solidFill>
                  <a:srgbClr val="1F3864"/>
                </a:solidFill>
                <a:latin typeface="Arial"/>
              </a:rPr>
              <a:t>How it addresses the problem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Fake passports and visas → chip signature verification + all five MRZ check digits + print-technology forensics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Altered dates of birth and replaced photographs → MRZ-versus-printed-text mismatch + photo-boundary blur heatmap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Tampered visa stamps → copy-move detection, stamp geometry checks, entry/exit chronology logic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Impersonation and multiple identities → four-way face matching + 1:N vector deduplication across crossings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Expired or blacklisted documents → date and validity rules + locally cached, signed watchlist snapshots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High passenger volume → screening drops from several minutes to a few seconds per traveller</a:t>
            </a:r>
          </a:p>
          <a:p>
            <a:pPr marL="0" indent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250" b="1" i="0" u="none">
                <a:solidFill>
                  <a:srgbClr val="1F3864"/>
                </a:solidFill>
                <a:latin typeface="Arial"/>
              </a:rPr>
              <a:t>Innovation and uniqueness of the solution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Proof, not probability — the passport chip is signed by the issuing state; verifying it makes any altered field fail mathematically, not statistically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Contradiction as evidence — an MRZ-versus-print mismatch is treated as a forgery signal, where other systems smooth it over as an OCR error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Explainable by design — every alert names the check that fired, shows where, and states plainly what could NOT be verified</a:t>
            </a:r>
          </a:p>
          <a:p>
            <a:pPr marL="274320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Catches unknown forgeries — databases only find documents already reported; our AI finds the forgery made last week that is on no list anywhere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144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Digital Warriors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329184" y="5138928"/>
            <a:ext cx="11521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Output of every screening — one decision, named reasons, full evidence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29184" y="5440680"/>
            <a:ext cx="3712463" cy="603504"/>
          </a:xfrm>
          <a:prstGeom prst="round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CLEAR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all checks passed · traveller proceeds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242816" y="5440680"/>
            <a:ext cx="3712463" cy="603504"/>
          </a:xfrm>
          <a:prstGeom prst="roundRect">
            <a:avLst/>
          </a:prstGeom>
          <a:solidFill>
            <a:srgbClr val="B57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REVIEW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secondary inspection with named reasons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156448" y="5440680"/>
            <a:ext cx="3712463" cy="603504"/>
          </a:xfrm>
          <a:prstGeom prst="roundRect">
            <a:avLst/>
          </a:prstGeom>
          <a:solidFill>
            <a:srgbClr val="B0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REFER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hard-fail evidence · chip, checksum or watchlist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7863840" cy="82296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1170432"/>
            <a:ext cx="5806440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/>
          <a:lstStyle/>
          <a:p>
            <a:pPr marL="0" indent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sng">
                <a:solidFill>
                  <a:srgbClr val="0070C0"/>
                </a:solidFill>
                <a:latin typeface="Arial"/>
              </a:rPr>
              <a:t>Technologies to be used (e.g. programming languages, frameworks, hardware)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OCR &amp; vision — </a:t>
            </a:r>
            <a:r>
              <a:rPr sz="1000">
                <a:solidFill>
                  <a:srgbClr val="1A1A1A"/>
                </a:solidFill>
                <a:latin typeface="Arial"/>
              </a:rPr>
              <a:t>PaddleOCR PP-OCRv4, TrOCR, LayoutLMv3, YOLOv8-seg, OpenCV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Tampering — </a:t>
            </a:r>
            <a:r>
              <a:rPr sz="1000">
                <a:solidFill>
                  <a:srgbClr val="1A1A1A"/>
                </a:solidFill>
                <a:latin typeface="Arial"/>
              </a:rPr>
              <a:t>TruFor, DocTamper, MVSS-Net + ELA, DCT double-JPEG, Noiseprint++, SIFT copy-move, ExifTool, pikepdf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Face — </a:t>
            </a:r>
            <a:r>
              <a:rPr sz="1000">
                <a:solidFill>
                  <a:srgbClr val="1A1A1A"/>
                </a:solidFill>
                <a:latin typeface="Arial"/>
              </a:rPr>
              <a:t>InsightFace SCRFD + AdaFace, Silent-Face PAD, differential morphing-attack detection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Chip &amp; crypto — </a:t>
            </a:r>
            <a:r>
              <a:rPr sz="1000">
                <a:solidFill>
                  <a:srgbClr val="1A1A1A"/>
                </a:solidFill>
                <a:latin typeface="Arial"/>
              </a:rPr>
              <a:t>BAC/PACE access, Passive Authentication of the SOD, JMRTD, pymrtd, ICAO PKD trust anchors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Risk &amp; fusion — </a:t>
            </a:r>
            <a:r>
              <a:rPr sz="1000">
                <a:solidFill>
                  <a:srgbClr val="1A1A1A"/>
                </a:solidFill>
                <a:latin typeface="Arial"/>
              </a:rPr>
              <a:t>XGBoost with isotonic calibration, SHAP explanations, rule engine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Platform — </a:t>
            </a:r>
            <a:r>
              <a:rPr sz="1000">
                <a:solidFill>
                  <a:srgbClr val="1A1A1A"/>
                </a:solidFill>
                <a:latin typeface="Arial"/>
              </a:rPr>
              <a:t>Python, FastAPI, PostgreSQL, Milvus, MinIO, ONNX Runtime / TensorRT INT8, React + TypeScript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Hardware — </a:t>
            </a:r>
            <a:r>
              <a:rPr sz="1000">
                <a:solidFill>
                  <a:srgbClr val="1A1A1A"/>
                </a:solidFill>
                <a:latin typeface="Arial"/>
              </a:rPr>
              <a:t>VIS/IR/UV document reader, NFC reader (ACR1252U), RGB+IR camera, edge GPU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0" y="1170432"/>
            <a:ext cx="544068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sng">
                <a:solidFill>
                  <a:srgbClr val="0070C0"/>
                </a:solidFill>
                <a:latin typeface="Arial"/>
              </a:rPr>
              <a:t>Methodology and process for implementation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Capture once, then run all five modules in parallel — nothing waits in a queue behind another module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Deterministic checks first: check digits and chip signature can hard-fail a document before any model is consulted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Soft signals feed a calibrated fusion model, so a risk of 0.7 means seven in ten such cases were fraudulent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Officer console shows decision, top three reasons, heatmap and face comparison on one screen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Every override is logged with a reason and feeds retraining; every decision is signed and hash-chained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Models exported to ONNX and quantised to INT8 to hold the latency budget on an affordable GPU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4389120"/>
            <a:ext cx="1572768" cy="603504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CAPTURE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reader · camera · NFC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2048256" y="4608576"/>
            <a:ext cx="256032" cy="16459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2368296" y="4389120"/>
            <a:ext cx="1700784" cy="603504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QUALITY GATE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dewarp · deglare · DPI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4133087" y="4608576"/>
            <a:ext cx="256032" cy="16459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4453128" y="3895344"/>
            <a:ext cx="2487168" cy="265176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Arial"/>
              </a:rPr>
              <a:t>M1  OCR &amp; extraction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453128" y="4215383"/>
            <a:ext cx="2487168" cy="265176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Arial"/>
              </a:rPr>
              <a:t>M2  Document validation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453128" y="4535424"/>
            <a:ext cx="2487168" cy="265176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Arial"/>
              </a:rPr>
              <a:t>M3  Tampering detection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453128" y="4855464"/>
            <a:ext cx="2487168" cy="265176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Arial"/>
              </a:rPr>
              <a:t>M4  Face verification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453128" y="5175504"/>
            <a:ext cx="2487168" cy="265176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Arial"/>
              </a:rPr>
              <a:t>M5  Identity resolution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453128" y="3675887"/>
            <a:ext cx="2487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1" u="none">
                <a:solidFill>
                  <a:srgbClr val="444C54"/>
                </a:solidFill>
                <a:latin typeface="Arial"/>
              </a:rPr>
              <a:t>run in parallel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7004304" y="4608576"/>
            <a:ext cx="256032" cy="16459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7324344" y="4389120"/>
            <a:ext cx="1810512" cy="603504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RISK ENGINE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hard fails + calibrated fusion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9198864" y="4608576"/>
            <a:ext cx="256032" cy="16459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9518904" y="4389120"/>
            <a:ext cx="2304288" cy="603504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OFFICER CONSOLE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CLEAR / REVIEW / REFER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11480" y="5705856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>
                <a:solidFill>
                  <a:srgbClr val="444C54"/>
                </a:solidFill>
                <a:latin typeface="Arial"/>
              </a:rPr>
              <a:t>End-to-end p95 target ≤ 3 seconds  ·  runs fully offline at the checkpoint  ·  external lookups sit behind adapters and never block the lane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FD15176-4050-C979-84B0-A27C0958BF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144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Digital Warriors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7863840" cy="82296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1170432"/>
            <a:ext cx="58064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/>
          <a:lstStyle/>
          <a:p>
            <a:pPr marL="0" marR="0" lvl="0" indent="0" algn="just" defTabSz="457200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sz="1200" b="1" i="0" u="sng">
                <a:solidFill>
                  <a:srgbClr val="0070C0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Every AI module is buildable now with zero external access — public datasets (MIDV-2020, MIDV-Holo, DocTamper, SIDTD, DocXPand) and released pretrained weights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Chip verification is demonstrable today: a ₹4,000 NFC reader plus a publicly published CSCA master list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Public data usable immediately — UN and OFAC sanctions lists, and Aadhaar secure-QR verified against UIDAI's public certificate (no licence required)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Commodity hardware: a single edge GPU per lane, no datacentre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Standards are open and stable — ICAO Doc 9303 fully specifies the MRZ, chip and PKI we rely on</a:t>
            </a:r>
          </a:p>
          <a:p>
            <a:pPr marL="0" indent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F3864"/>
                </a:solidFill>
                <a:latin typeface="Arial"/>
              </a:rPr>
              <a:t>Government lookups are the easy half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B5700E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Interpol SLTD, IVFRT, CCTNS and ICAO PKD are database queries, not algorithms — bureaucratic to obtain, trivial to connect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B5700E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Each sits behind a documented adapter with a clearly labelled simulator; integration is a URL and a credential, not a rewrite</a:t>
            </a:r>
          </a:p>
          <a:p>
            <a:pPr marL="219456" indent="-128016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B5700E"/>
              </a:buClr>
              <a:buSzPct val="85000"/>
              <a:buFont typeface="Arial"/>
              <a:buChar char="▪"/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Connected by the department under its own authorisations after selection — the prototype never claims live access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0" y="1170432"/>
            <a:ext cx="544068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sng">
                <a:solidFill>
                  <a:srgbClr val="0070C0"/>
                </a:solidFill>
                <a:latin typeface="Arial"/>
              </a:rPr>
              <a:t>Potential challenges and risks  →  Strategies for overcoming them</a:t>
            </a:r>
          </a:p>
          <a:p>
            <a:pPr marL="219456" indent="-128016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B0211A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B0211A"/>
                </a:solidFill>
                <a:latin typeface="Arial"/>
              </a:rPr>
              <a:t>False alarms erode officer trust</a:t>
            </a:r>
          </a:p>
          <a:p>
            <a:pPr marL="219456" indent="0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50" b="0" i="0" u="none">
                <a:solidFill>
                  <a:srgbClr val="444C54"/>
                </a:solidFill>
                <a:latin typeface="Arial"/>
              </a:rPr>
              <a:t>Tune on false-positive rate at a fixed detection rate, not accuracy. Shadow-mode pilot before the system influences any live decision.</a:t>
            </a:r>
          </a:p>
          <a:p>
            <a:pPr marL="219456" indent="-128016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B0211A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B0211A"/>
                </a:solidFill>
                <a:latin typeface="Arial"/>
              </a:rPr>
              <a:t>No public training data for Nepali and Bhutanese documents</a:t>
            </a:r>
          </a:p>
          <a:p>
            <a:pPr marL="219456" indent="0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50" b="0" i="0" u="none">
                <a:solidFill>
                  <a:srgbClr val="444C54"/>
                </a:solidFill>
                <a:latin typeface="Arial"/>
              </a:rPr>
              <a:t>Programmatic forgery generation over synthetic templates only, never real documents; collect real samples later under SSB authorisation.</a:t>
            </a:r>
          </a:p>
          <a:p>
            <a:pPr marL="219456" indent="-128016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B0211A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B0211A"/>
                </a:solidFill>
                <a:latin typeface="Arial"/>
              </a:rPr>
              <a:t>Forgers adapt to a deployed model</a:t>
            </a:r>
          </a:p>
          <a:p>
            <a:pPr marL="219456" indent="0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50" b="0" i="0" u="none">
                <a:solidFill>
                  <a:srgbClr val="444C54"/>
                </a:solidFill>
                <a:latin typeface="Arial"/>
              </a:rPr>
              <a:t>Signal diversity — an attack that defeats the deep model still fails font, print-technology and UV checks. Adversarial training and rapid rollback.</a:t>
            </a:r>
          </a:p>
          <a:p>
            <a:pPr marL="219456" indent="-128016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B0211A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B0211A"/>
                </a:solidFill>
                <a:latin typeface="Arial"/>
              </a:rPr>
              <a:t>Demographic bias in face matching</a:t>
            </a:r>
          </a:p>
          <a:p>
            <a:pPr marL="219456" indent="0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50" b="0" i="0" u="none">
                <a:solidFill>
                  <a:srgbClr val="444C54"/>
                </a:solidFill>
                <a:latin typeface="Arial"/>
              </a:rPr>
              <a:t>Error rates reported stratified by nationality, sex and age band; thresholds calibrated per NIST FRVT practice before deployment.</a:t>
            </a:r>
          </a:p>
          <a:p>
            <a:pPr marL="219456" indent="-128016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B0211A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B0211A"/>
                </a:solidFill>
                <a:latin typeface="Arial"/>
              </a:rPr>
              <a:t>Data protection under DPDP and the Aadhaar Act</a:t>
            </a:r>
          </a:p>
          <a:p>
            <a:pPr marL="219456" indent="0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50" b="0" i="0" u="none">
                <a:solidFill>
                  <a:srgbClr val="444C54"/>
                </a:solidFill>
                <a:latin typeface="Arial"/>
              </a:rPr>
              <a:t>On-premise only, Aadhaar numbers masked, keys in an HSM, hash-chained audit log, defined retention and deletion schedule.</a:t>
            </a:r>
          </a:p>
          <a:p>
            <a:pPr marL="219456" indent="-128016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B0211A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B0211A"/>
                </a:solidFill>
                <a:latin typeface="Arial"/>
              </a:rPr>
              <a:t>Visible-light photos limit forgery detection</a:t>
            </a:r>
          </a:p>
          <a:p>
            <a:pPr marL="219456" indent="0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950" b="0" i="0" u="none">
                <a:solidFill>
                  <a:srgbClr val="444C54"/>
                </a:solidFill>
                <a:latin typeface="Arial"/>
              </a:rPr>
              <a:t>Software works on ordinary images but improves sharply with a VIS/IR/UV reader; chip verification stays exact regardless of image quality.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5084064"/>
            <a:ext cx="11521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sng">
                <a:solidFill>
                  <a:srgbClr val="0070C0"/>
                </a:solidFill>
                <a:latin typeface="Arial"/>
              </a:rPr>
              <a:t>Phased delivery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9184" y="5376672"/>
            <a:ext cx="3712463" cy="713232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7A46"/>
                </a:solidFill>
                <a:latin typeface="Arial"/>
              </a:rPr>
              <a:t>PHASE 1  ·  internal round</a:t>
            </a:r>
          </a:p>
          <a:p>
            <a:pPr algn="l">
              <a:lnSpc>
                <a:spcPct val="92000"/>
              </a:lnSpc>
            </a:pPr>
            <a:r>
              <a:rPr sz="750">
                <a:solidFill>
                  <a:srgbClr val="444C54"/>
                </a:solidFill>
                <a:latin typeface="Arial"/>
              </a:rPr>
              <a:t>MRZ pipeline · check-digit validation · rule engine · classical tampering ensemble · face matching · officer console · mocked adapters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42816" y="5376672"/>
            <a:ext cx="3712463" cy="713232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PHASE 2  ·  grand finale</a:t>
            </a:r>
          </a:p>
          <a:p>
            <a:pPr algn="l">
              <a:lnSpc>
                <a:spcPct val="92000"/>
              </a:lnSpc>
            </a:pPr>
            <a:r>
              <a:rPr sz="750">
                <a:solidFill>
                  <a:srgbClr val="444C54"/>
                </a:solidFill>
                <a:latin typeface="Arial"/>
              </a:rPr>
              <a:t>ePassport chip Passive Authentication · synthetic forgery training · 1:N deduplication · calibrated fusion with SHAP · ONNX optimisation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56448" y="5376672"/>
            <a:ext cx="3712463" cy="713232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Arial"/>
              </a:rPr>
              <a:t>PHASE 3  ·  with the department</a:t>
            </a:r>
          </a:p>
          <a:p>
            <a:pPr algn="l">
              <a:lnSpc>
                <a:spcPct val="92000"/>
              </a:lnSpc>
            </a:pPr>
            <a:r>
              <a:rPr sz="750">
                <a:solidFill>
                  <a:srgbClr val="444C54"/>
                </a:solidFill>
                <a:latin typeface="Arial"/>
              </a:rPr>
              <a:t>VIS/IR/UV reader · ICAO PKD and Interpol SLTD under MHA authorisation · CERT-In audit · shadow-mode pilot at a live checkpoint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FFD1E46-1739-44A6-B9AD-73D8B5B53F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144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Digital Warriors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7863840" cy="82296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2121408"/>
            <a:ext cx="5806440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/>
          <a:lstStyle/>
          <a:p>
            <a:pPr marL="0" marR="0" lvl="0" indent="0" algn="just" defTabSz="457200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sz="1200" b="1" i="0" u="sng">
                <a:solidFill>
                  <a:srgbClr val="0070C0"/>
                </a:solidFill>
                <a:latin typeface="Arial"/>
              </a:rPr>
              <a:t>Potential impact on the target audience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Border officers (SSB, Bureau of Immigration) — </a:t>
            </a:r>
            <a:r>
              <a:rPr sz="1000">
                <a:solidFill>
                  <a:srgbClr val="1A1A1A"/>
                </a:solidFill>
                <a:latin typeface="Arial"/>
              </a:rPr>
              <a:t>screening collapses from minutes to seconds, and the decision rests on evidence rather than intuition at the end of a long shift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Travellers — </a:t>
            </a:r>
            <a:r>
              <a:rPr sz="1000">
                <a:solidFill>
                  <a:srgbClr val="1A1A1A"/>
                </a:solidFill>
                <a:latin typeface="Arial"/>
              </a:rPr>
              <a:t>genuine documents clear quickly and queues shorten; anyone flagged gets named reasons and a documented route to redress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Investigators and prosecutors — </a:t>
            </a:r>
            <a:r>
              <a:rPr sz="1000">
                <a:solidFill>
                  <a:srgbClr val="1A1A1A"/>
                </a:solidFill>
                <a:latin typeface="Arial"/>
              </a:rPr>
              <a:t>a signed, hash-chained record per crossing, with a Section 63 electronic-evidence certificate generated automatically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Ministry of Home Affairs — </a:t>
            </a:r>
            <a:r>
              <a:rPr sz="1000">
                <a:solidFill>
                  <a:srgbClr val="1A1A1A"/>
                </a:solidFill>
                <a:latin typeface="Arial"/>
              </a:rPr>
              <a:t>the same forgery scores the same at every checkpoint, replacing checkpoint-by-checkpoint variation with a national standard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29184" y="1133856"/>
            <a:ext cx="3712463" cy="786384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rIns="54864" bIns="0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70C0"/>
                </a:solidFill>
                <a:latin typeface="Arial"/>
              </a:rPr>
              <a:t>&lt; 3 sec</a:t>
            </a:r>
          </a:p>
          <a:p>
            <a:pPr algn="l">
              <a:lnSpc>
                <a:spcPct val="90000"/>
              </a:lnSpc>
            </a:pPr>
            <a:r>
              <a:rPr sz="900">
                <a:solidFill>
                  <a:srgbClr val="444C54"/>
                </a:solidFill>
                <a:latin typeface="Arial"/>
              </a:rPr>
              <a:t>per document, versus
several minutes manually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42816" y="1133856"/>
            <a:ext cx="3712463" cy="786384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rIns="54864" bIns="0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70C0"/>
                </a:solidFill>
                <a:latin typeface="Arial"/>
              </a:rPr>
              <a:t>4</a:t>
            </a:r>
          </a:p>
          <a:p>
            <a:pPr algn="l">
              <a:lnSpc>
                <a:spcPct val="90000"/>
              </a:lnSpc>
            </a:pPr>
            <a:r>
              <a:rPr sz="900">
                <a:solidFill>
                  <a:srgbClr val="444C54"/>
                </a:solidFill>
                <a:latin typeface="Arial"/>
              </a:rPr>
              <a:t>independent face comparisons
per traveller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56448" y="1133856"/>
            <a:ext cx="3712463" cy="786384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rIns="54864" bIns="0" rtlCol="0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70C0"/>
                </a:solidFill>
                <a:latin typeface="Arial"/>
              </a:rPr>
              <a:t>100%</a:t>
            </a:r>
          </a:p>
          <a:p>
            <a:pPr algn="l">
              <a:lnSpc>
                <a:spcPct val="90000"/>
              </a:lnSpc>
            </a:pPr>
            <a:r>
              <a:rPr sz="900">
                <a:solidFill>
                  <a:srgbClr val="444C54"/>
                </a:solidFill>
                <a:latin typeface="Arial"/>
              </a:rPr>
              <a:t>of decisions logged with a
signed, tamper-evident trail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00800" y="2121408"/>
            <a:ext cx="544068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sng">
                <a:solidFill>
                  <a:srgbClr val="0070C0"/>
                </a:solidFill>
                <a:latin typeface="Arial"/>
              </a:rPr>
              <a:t>Benefits of the solution (social, economic, environmental, etc.)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Security — </a:t>
            </a:r>
            <a:r>
              <a:rPr sz="1000">
                <a:solidFill>
                  <a:srgbClr val="1A1A1A"/>
                </a:solidFill>
                <a:latin typeface="Arial"/>
              </a:rPr>
              <a:t>detects tampering and impersonation that no watchlist contains, including morphed passport photographs designed to match two people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Social — </a:t>
            </a:r>
            <a:r>
              <a:rPr sz="1000">
                <a:solidFill>
                  <a:srgbClr val="1A1A1A"/>
                </a:solidFill>
                <a:latin typeface="Arial"/>
              </a:rPr>
              <a:t>consistent, non-arbitrary treatment at the counter; error rates measured and published by demographic group rather than left unexamined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Economic — </a:t>
            </a:r>
            <a:r>
              <a:rPr sz="1000">
                <a:solidFill>
                  <a:srgbClr val="1A1A1A"/>
                </a:solidFill>
                <a:latin typeface="Arial"/>
              </a:rPr>
              <a:t>a force multiplier — higher throughput without additional posts, on commodity hardware instead of per-seat commercial SDK licensing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Operational — </a:t>
            </a:r>
            <a:r>
              <a:rPr sz="1000">
                <a:solidFill>
                  <a:srgbClr val="1A1A1A"/>
                </a:solidFill>
                <a:latin typeface="Arial"/>
              </a:rPr>
              <a:t>offline-first, so it keeps working at low-connectivity frontier posts where a cloud service simply would not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Environmental — </a:t>
            </a:r>
            <a:r>
              <a:rPr sz="1000">
                <a:solidFill>
                  <a:srgbClr val="1A1A1A"/>
                </a:solidFill>
                <a:latin typeface="Arial"/>
              </a:rPr>
              <a:t>edge inference avoids datacentre load, and a digital evidence trail replaces paper case files and repeated physical re-inspection</a:t>
            </a:r>
          </a:p>
          <a:p>
            <a:pPr marL="219456" indent="-128016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1E7A46"/>
              </a:buClr>
              <a:buSzPct val="85000"/>
              <a:buFont typeface="Arial"/>
              <a:buChar char="▪"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Institutional — </a:t>
            </a:r>
            <a:r>
              <a:rPr sz="1000">
                <a:solidFill>
                  <a:srgbClr val="1A1A1A"/>
                </a:solidFill>
                <a:latin typeface="Arial"/>
              </a:rPr>
              <a:t>forgery patterns accumulate into searchable intelligence, turning every crossing into data for future detection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9184" y="4828032"/>
            <a:ext cx="5504688" cy="1298448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493776" y="4946904"/>
            <a:ext cx="517550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444C54"/>
                </a:solidFill>
                <a:latin typeface="Arial"/>
              </a:rPr>
              <a:t>TODAY  —  MANUAL INSPECTION</a:t>
            </a:r>
          </a:p>
          <a:p>
            <a:pPr marL="164592" indent="-109728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444C54"/>
              </a:buClr>
              <a:buSzPct val="85000"/>
              <a:buFont typeface="Arial"/>
              <a:buChar char="▪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Several minutes per document at the counter</a:t>
            </a:r>
          </a:p>
          <a:p>
            <a:pPr marL="164592" indent="-109728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444C54"/>
              </a:buClr>
              <a:buSzPct val="85000"/>
              <a:buFont typeface="Arial"/>
              <a:buChar char="▪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Depends on which officer is on shift and how long the queue is</a:t>
            </a:r>
          </a:p>
          <a:p>
            <a:pPr marL="164592" indent="-109728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444C54"/>
              </a:buClr>
              <a:buSzPct val="85000"/>
              <a:buFont typeface="Arial"/>
              <a:buChar char="▪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Sophisticated forgeries routinely missed by eye alone</a:t>
            </a:r>
          </a:p>
          <a:p>
            <a:pPr marL="164592" indent="-109728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444C54"/>
              </a:buClr>
              <a:buSzPct val="85000"/>
              <a:buFont typeface="Arial"/>
              <a:buChar char="▪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No record of why a traveller was cleared or stopped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345936" y="4828032"/>
            <a:ext cx="5504688" cy="1298448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510528" y="4946904"/>
            <a:ext cx="517550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070C0"/>
                </a:solidFill>
                <a:latin typeface="Arial"/>
              </a:rPr>
              <a:t>WITH  SATYAPAN</a:t>
            </a:r>
          </a:p>
          <a:p>
            <a:pPr marL="164592" indent="-109728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Under three seconds, with the officer still deciding</a:t>
            </a:r>
          </a:p>
          <a:p>
            <a:pPr marL="164592" indent="-109728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The same forgery scores the same at every checkpoint</a:t>
            </a:r>
          </a:p>
          <a:p>
            <a:pPr marL="164592" indent="-109728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Chip-verified proof plus a multi-signal, explainable AI ensemble</a:t>
            </a:r>
          </a:p>
          <a:p>
            <a:pPr marL="164592" indent="-109728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Signed, hash-chained evidence trail for every decision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01CD357-DC23-FADB-BFE5-1A41FEB222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144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Digital Warriors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7863840" cy="82296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184" y="1170432"/>
            <a:ext cx="58064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/>
          <a:lstStyle/>
          <a:p>
            <a:pPr marL="0" marR="0" lvl="0" indent="0" algn="just" defTabSz="457200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sz="1200" b="1" i="0" u="sng">
                <a:solidFill>
                  <a:srgbClr val="0070C0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0" indent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F3864"/>
                </a:solidFill>
                <a:latin typeface="Arial"/>
              </a:rPr>
              <a:t>Standards and specifications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ICAO Doc 9303, Parts 3, 4, 10, 11 and 12 — machine readable travel documents, logical data structure and PKI  (icao.int)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ICAO Public Key Directory — CSCA and document signer trust anchors  (icao.int/Security/FAL/PKD)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ISO/IEC 30107-3 — presentation attack detection reporting;  ISO/IEC 19794-5 and 39794-5 — face image data</a:t>
            </a:r>
          </a:p>
          <a:p>
            <a:pPr marL="0" indent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F3864"/>
                </a:solidFill>
                <a:latin typeface="Arial"/>
              </a:rPr>
              <a:t>Models and methods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TruFor: Leveraging All-Round Clues for Trustworthy Image Forgery Detection and Localization — CVPR 2023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CAT-Net: Compression Artifact Tracing Network for splicing localisation — IJCV 2022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MVSS-Net++: multi-view multi-scale supervision for image manipulation detection — TPAMI 2022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AdaFace: Quality Adaptive Margin for Face Recognition — CVPR 2022;  ArcFace — CVPR 2019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NIST FRVT Part 4 (MORPH) — morphing attack detection benchmark  (nist.gov)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0" y="1170432"/>
            <a:ext cx="544068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F3864"/>
                </a:solidFill>
                <a:latin typeface="Arial"/>
              </a:rPr>
              <a:t>Datasets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MIDV-500 / MIDV-2019 / MIDV-2020 — identity document images and video, Institute for Systems Analysis, RAS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MIDV-Holo — holographic security feature forgery detection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DocXPand-25k and SIDTD — synthetic and tampered identity documents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DocTamper (2023) — document-specific tampering localisation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FRLL-Morphs, SMDD — face morphing benchmarks;  CASIA-SURF, OULU-NPU — presentation attack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CASIA v2, IMD2020, DEFACTO, CoMoFoD — general image manipulation</a:t>
            </a:r>
          </a:p>
          <a:p>
            <a:pPr marL="0" indent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F3864"/>
                </a:solidFill>
                <a:latin typeface="Arial"/>
              </a:rPr>
              <a:t>Indian systems and data sources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API Setu — NIC platform for government issuer APIs including Sarathi and Vahan  (apisetu.gov.in)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DigiLocker Partner APIs — issued document retrieval with citizen consent  (partners.digitallocker.gov.in)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UIDAI — Aadhaar secure QR code and paperless offline e-KYC specifications  (uidai.gov.in)</a:t>
            </a:r>
          </a:p>
          <a:p>
            <a:pPr marL="0" indent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F3864"/>
                </a:solidFill>
                <a:latin typeface="Arial"/>
              </a:rPr>
              <a:t>Legal and regulatory framework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Digital Personal Data Protection Act 2023, including Section 17(2)(a)  (meity.gov.in)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Aadhaar Act 2016, Section 29 — biometric handling and number masking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Bharatiya Sakshya Adhiniyam 2023, Section 63 — electronic evidence certificate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Immigration and Foreigners Act 2025;  Passports Act 1967;  Foreigners Act 1946</a:t>
            </a:r>
          </a:p>
          <a:p>
            <a:pPr marL="219456" indent="-128016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SzPct val="85000"/>
              <a:buFont typeface="Arial"/>
              <a:buChar char="▪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K.S. Puttaswamy v. Union of India (2017) — privacy and the proportionality test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5541264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sng" dirty="0">
                <a:solidFill>
                  <a:srgbClr val="0070C0"/>
                </a:solidFill>
                <a:latin typeface="Arial"/>
              </a:rPr>
              <a:t>Hardware and tooling referenced</a:t>
            </a:r>
          </a:p>
          <a:p>
            <a:pPr marL="0" indent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900" b="0" i="0" u="none" dirty="0">
                <a:solidFill>
                  <a:srgbClr val="444C54"/>
                </a:solidFill>
                <a:latin typeface="Arial"/>
              </a:rPr>
              <a:t>ACS ACR1252U NFC reader (chip Passive Authentication)  ·  Regula and Access-IS full-page VIS/IR/UV document readers  ·  Intel RealSense depth camera for presentation-attack detection  ·  NVIDIA edge GPU or Jetson AGX Orin for </a:t>
            </a:r>
            <a:r>
              <a:rPr sz="900" b="0" i="0" u="none" dirty="0" err="1">
                <a:solidFill>
                  <a:srgbClr val="444C54"/>
                </a:solidFill>
                <a:latin typeface="Arial"/>
              </a:rPr>
              <a:t>fanless</a:t>
            </a:r>
            <a:r>
              <a:rPr sz="900" b="0" i="0" u="none" dirty="0">
                <a:solidFill>
                  <a:srgbClr val="444C54"/>
                </a:solidFill>
                <a:latin typeface="Arial"/>
              </a:rPr>
              <a:t> checkpoint deployment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6878FA0-19C1-20BD-13C6-FB678D97A9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144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Digital Warriors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2175</Words>
  <Application>Microsoft Office PowerPoint</Application>
  <PresentationFormat>Widescreen</PresentationFormat>
  <Paragraphs>187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SATYAPAN AI-Based Fake Identity &amp; Document Screening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Kumar, Chandan (NDE)</cp:lastModifiedBy>
  <cp:revision>149</cp:revision>
  <dcterms:created xsi:type="dcterms:W3CDTF">2013-12-12T18:46:50Z</dcterms:created>
  <dcterms:modified xsi:type="dcterms:W3CDTF">2026-08-29T18:11:22Z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2026-08-29T18:11:22Z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7199aec4-339f-4049-bc3c-1c809badbe10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10, 3, 0, 1</vt:lpwstr>
  </property>
</Properties>
</file>