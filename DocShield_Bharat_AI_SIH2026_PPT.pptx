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48640"/>
            <a:ext cx="11094415" cy="5760720"/>
          </a:xfrm>
          <a:prstGeom prst="roundRect">
            <a:avLst/>
          </a:prstGeom>
          <a:solidFill>
            <a:srgbClr val="121A2F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20040"/>
          <a:lstStyle/>
          <a:p>
            <a:pPr algn="ctr">
              <a:defRPr sz="1500" b="1">
                <a:solidFill>
                  <a:srgbClr val="F59E0B"/>
                </a:solidFill>
              </a:defRPr>
            </a:pPr>
            <a:r>
              <a:t>SMART INDIA HACKATHON 2026</a:t>
            </a:r>
          </a:p>
          <a:p>
            <a:pPr>
              <a:defRPr sz="2800" b="1">
                <a:solidFill>
                  <a:srgbClr val="F8FAFC"/>
                </a:solidFill>
              </a:defRPr>
            </a:pPr>
            <a:r>
              <a:t>SATYAPAN (सत्यापन — verification)</a:t>
            </a:r>
          </a:p>
          <a:p>
            <a:pPr>
              <a:defRPr sz="1500">
                <a:solidFill>
                  <a:srgbClr val="06B6D4"/>
                </a:solidFill>
              </a:defRPr>
            </a:pPr>
            <a:r>
              <a:t>AI-Based Fake Identity &amp; Document Screening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2103120"/>
            <a:ext cx="10180015" cy="420624"/>
          </a:xfrm>
          <a:prstGeom prst="rect">
            <a:avLst/>
          </a:prstGeom>
          <a:solidFill>
            <a:srgbClr val="0D142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73152"/>
          <a:lstStyle/>
          <a:p>
            <a:pPr algn="ctr">
              <a:defRPr b="1" sz="1200">
                <a:solidFill>
                  <a:srgbClr val="3B82F6"/>
                </a:solidFill>
              </a:defRPr>
            </a:pPr>
            <a:r>
              <a:t>▪ Problem Statement ID: </a:t>
            </a:r>
            <a:r>
              <a:rPr b="1" sz="1200">
                <a:solidFill>
                  <a:srgbClr val="F8FAFC"/>
                </a:solidFill>
              </a:rPr>
              <a:t>26188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2596896"/>
            <a:ext cx="10180015" cy="420624"/>
          </a:xfrm>
          <a:prstGeom prst="rect">
            <a:avLst/>
          </a:prstGeom>
          <a:solidFill>
            <a:srgbClr val="0D142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73152"/>
          <a:lstStyle/>
          <a:p>
            <a:pPr algn="ctr">
              <a:defRPr b="1" sz="1200">
                <a:solidFill>
                  <a:srgbClr val="3B82F6"/>
                </a:solidFill>
              </a:defRPr>
            </a:pPr>
            <a:r>
              <a:t>▪ Problem Statement Title: </a:t>
            </a:r>
            <a:r>
              <a:rPr b="1" sz="1200">
                <a:solidFill>
                  <a:srgbClr val="F8FAFC"/>
                </a:solidFill>
              </a:rPr>
              <a:t>AI-Based Fake Identity &amp; Document Screening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3090672"/>
            <a:ext cx="10180015" cy="420624"/>
          </a:xfrm>
          <a:prstGeom prst="rect">
            <a:avLst/>
          </a:prstGeom>
          <a:solidFill>
            <a:srgbClr val="0D142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73152"/>
          <a:lstStyle/>
          <a:p>
            <a:pPr algn="ctr">
              <a:defRPr b="1" sz="1200">
                <a:solidFill>
                  <a:srgbClr val="3B82F6"/>
                </a:solidFill>
              </a:defRPr>
            </a:pPr>
            <a:r>
              <a:t>▪ Raised by: </a:t>
            </a:r>
            <a:r>
              <a:rPr b="1" sz="1200">
                <a:solidFill>
                  <a:srgbClr val="F8FAFC"/>
                </a:solidFill>
              </a:rPr>
              <a:t>Sashastra Seema Bal (SSB), Police II Division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3584448"/>
            <a:ext cx="10180015" cy="420624"/>
          </a:xfrm>
          <a:prstGeom prst="rect">
            <a:avLst/>
          </a:prstGeom>
          <a:solidFill>
            <a:srgbClr val="0D142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73152"/>
          <a:lstStyle/>
          <a:p>
            <a:pPr algn="ctr">
              <a:defRPr b="1" sz="1200">
                <a:solidFill>
                  <a:srgbClr val="3B82F6"/>
                </a:solidFill>
              </a:defRPr>
            </a:pPr>
            <a:r>
              <a:t>▪ Theme: </a:t>
            </a:r>
            <a:r>
              <a:rPr b="1" sz="1200">
                <a:solidFill>
                  <a:srgbClr val="F8FAFC"/>
                </a:solidFill>
              </a:rPr>
              <a:t>Blockchain &amp; Cybersecurity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078224"/>
            <a:ext cx="10180015" cy="420624"/>
          </a:xfrm>
          <a:prstGeom prst="rect">
            <a:avLst/>
          </a:prstGeom>
          <a:solidFill>
            <a:srgbClr val="0D142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73152"/>
          <a:lstStyle/>
          <a:p>
            <a:pPr algn="ctr">
              <a:defRPr b="1" sz="1200">
                <a:solidFill>
                  <a:srgbClr val="3B82F6"/>
                </a:solidFill>
              </a:defRPr>
            </a:pPr>
            <a:r>
              <a:t>▪ PS Category: </a:t>
            </a:r>
            <a:r>
              <a:rPr b="1" sz="1200">
                <a:solidFill>
                  <a:srgbClr val="F8FAFC"/>
                </a:solidFill>
              </a:rPr>
              <a:t>Software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4572000"/>
            <a:ext cx="10180015" cy="420624"/>
          </a:xfrm>
          <a:prstGeom prst="rect">
            <a:avLst/>
          </a:prstGeom>
          <a:solidFill>
            <a:srgbClr val="0D142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73152"/>
          <a:lstStyle/>
          <a:p>
            <a:pPr algn="ctr">
              <a:defRPr b="1" sz="1200">
                <a:solidFill>
                  <a:srgbClr val="3B82F6"/>
                </a:solidFill>
              </a:defRPr>
            </a:pPr>
            <a:r>
              <a:t>▪ Team ID: </a:t>
            </a:r>
            <a:r>
              <a:rPr b="1" sz="1200">
                <a:solidFill>
                  <a:srgbClr val="F8FAFC"/>
                </a:solidFill>
              </a:rPr>
              <a:t>________________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5065776"/>
            <a:ext cx="10180015" cy="420624"/>
          </a:xfrm>
          <a:prstGeom prst="rect">
            <a:avLst/>
          </a:prstGeom>
          <a:solidFill>
            <a:srgbClr val="0D142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73152"/>
          <a:lstStyle/>
          <a:p>
            <a:pPr algn="ctr">
              <a:defRPr b="1" sz="1200">
                <a:solidFill>
                  <a:srgbClr val="3B82F6"/>
                </a:solidFill>
              </a:defRPr>
            </a:pPr>
            <a:r>
              <a:t>▪ Team Name (Registered on portal): </a:t>
            </a:r>
            <a:r>
              <a:rPr b="1" sz="1200">
                <a:solidFill>
                  <a:srgbClr val="F8FAFC"/>
                </a:solidFill>
              </a:rPr>
              <a:t>Digital Warriors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solidFill>
            <a:srgbClr val="121A2F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/>
          <a:lstStyle/>
          <a:p>
            <a:pPr algn="ctr">
              <a:defRPr sz="2000" b="1">
                <a:solidFill>
                  <a:srgbClr val="F8FAFC"/>
                </a:solidFill>
                <a:latin typeface="Arial"/>
              </a:defRPr>
            </a:pPr>
            <a:r>
              <a:t>SATYAPAN — AI-Based Fake Identity &amp; Document Screening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79" y="384048"/>
            <a:ext cx="3931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6B6D4"/>
                </a:solidFill>
                <a:latin typeface="Arial"/>
              </a:defRPr>
            </a:pPr>
            <a:r>
              <a:t>Team: Digital Warriors  |  Slide 2/6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3611880" cy="429768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/>
          <a:lstStyle/>
          <a:p>
            <a:pPr algn="ctr">
              <a:defRPr sz="1250" b="1">
                <a:solidFill>
                  <a:srgbClr val="3B82F6"/>
                </a:solidFill>
              </a:defRPr>
            </a:pPr>
            <a:r>
              <a:t>Detailed explanation of the proposed solution</a:t>
            </a:r>
          </a:p>
          <a:p>
            <a:pPr>
              <a:spcBef>
                <a:spcPts val="500"/>
              </a:spcBef>
              <a:defRPr sz="950">
                <a:solidFill>
                  <a:srgbClr val="F8FAFC"/>
                </a:solidFill>
              </a:defRPr>
            </a:pPr>
            <a:r>
              <a:t>▪ Five modules over one capture: OCR extraction → document validation → tampering detection → face verification → identity resolution</a:t>
            </a:r>
          </a:p>
          <a:p>
            <a:pPr>
              <a:spcBef>
                <a:spcPts val="500"/>
              </a:spcBef>
              <a:defRPr sz="950">
                <a:solidFill>
                  <a:srgbClr val="F8FAFC"/>
                </a:solidFill>
              </a:defRPr>
            </a:pPr>
            <a:r>
              <a:t>▪ Reads passport, visa, national ID, driving licence and permits — MRZ (ICAO 9303), printed visual zone, and the ePassport RFID chip</a:t>
            </a:r>
          </a:p>
          <a:p>
            <a:pPr>
              <a:spcBef>
                <a:spcPts val="500"/>
              </a:spcBef>
              <a:defRPr sz="950">
                <a:solidFill>
                  <a:srgbClr val="F8FAFC"/>
                </a:solidFill>
              </a:defRPr>
            </a:pPr>
            <a:r>
              <a:t>▪ Risk engine fuses every signal into CLEAR / REVIEW / REFER with named reasons and a heatmap on the document — in under 3 seconds</a:t>
            </a:r>
          </a:p>
          <a:p>
            <a:pPr>
              <a:spcBef>
                <a:spcPts val="500"/>
              </a:spcBef>
              <a:defRPr sz="950">
                <a:solidFill>
                  <a:srgbClr val="F8FAFC"/>
                </a:solidFill>
              </a:defRPr>
            </a:pPr>
            <a:r>
              <a:t>▪ Runs on a local GPU box at the counter: offline-capable, no cloud, no traveller data leaving government infrastructure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79392" y="1234440"/>
            <a:ext cx="3611880" cy="429768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/>
          <a:lstStyle/>
          <a:p>
            <a:pPr algn="ctr">
              <a:defRPr sz="1250" b="1">
                <a:solidFill>
                  <a:srgbClr val="10B981"/>
                </a:solidFill>
              </a:defRPr>
            </a:pPr>
            <a:r>
              <a:t>How it addresses the problem</a:t>
            </a:r>
          </a:p>
          <a:p>
            <a:pPr>
              <a:spcBef>
                <a:spcPts val="500"/>
              </a:spcBef>
              <a:defRPr sz="950">
                <a:solidFill>
                  <a:srgbClr val="F8FAFC"/>
                </a:solidFill>
              </a:defRPr>
            </a:pPr>
            <a:r>
              <a:t>▪ Fake passports and visas → chip signature verification + all five MRZ check digits + print-technology forensics</a:t>
            </a:r>
          </a:p>
          <a:p>
            <a:pPr>
              <a:spcBef>
                <a:spcPts val="500"/>
              </a:spcBef>
              <a:defRPr sz="950">
                <a:solidFill>
                  <a:srgbClr val="F8FAFC"/>
                </a:solidFill>
              </a:defRPr>
            </a:pPr>
            <a:r>
              <a:t>▪ Altered dates of birth and replaced photographs → MRZ-versus-printed-text mismatch + photo-boundary blur heatmap</a:t>
            </a:r>
          </a:p>
          <a:p>
            <a:pPr>
              <a:spcBef>
                <a:spcPts val="500"/>
              </a:spcBef>
              <a:defRPr sz="950">
                <a:solidFill>
                  <a:srgbClr val="F8FAFC"/>
                </a:solidFill>
              </a:defRPr>
            </a:pPr>
            <a:r>
              <a:t>▪ Tampered visa stamps → copy-move detection, stamp geometry checks, entry/exit chronology logic</a:t>
            </a:r>
          </a:p>
          <a:p>
            <a:pPr>
              <a:spcBef>
                <a:spcPts val="500"/>
              </a:spcBef>
              <a:defRPr sz="950">
                <a:solidFill>
                  <a:srgbClr val="F8FAFC"/>
                </a:solidFill>
              </a:defRPr>
            </a:pPr>
            <a:r>
              <a:t>▪ Impersonation and multiple identities → four-way face matching + 1:N vector deduplication across crossings</a:t>
            </a:r>
          </a:p>
          <a:p>
            <a:pPr>
              <a:spcBef>
                <a:spcPts val="500"/>
              </a:spcBef>
              <a:defRPr sz="950">
                <a:solidFill>
                  <a:srgbClr val="F8FAFC"/>
                </a:solidFill>
              </a:defRPr>
            </a:pPr>
            <a:r>
              <a:t>▪ Expired or blacklisted documents → date and validity rules + locally cached, signed watchlist snapshots</a:t>
            </a:r>
          </a:p>
          <a:p>
            <a:pPr>
              <a:spcBef>
                <a:spcPts val="500"/>
              </a:spcBef>
              <a:defRPr sz="950">
                <a:solidFill>
                  <a:srgbClr val="F8FAFC"/>
                </a:solidFill>
              </a:defRPr>
            </a:pPr>
            <a:r>
              <a:t>▪ High passenger volume → screening drops from several minutes to a few seconds per traveller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0144" y="1234440"/>
            <a:ext cx="3611880" cy="429768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/>
          <a:lstStyle/>
          <a:p>
            <a:pPr algn="ctr">
              <a:defRPr sz="1250" b="1">
                <a:solidFill>
                  <a:srgbClr val="F59E0B"/>
                </a:solidFill>
              </a:defRPr>
            </a:pPr>
            <a:r>
              <a:t>Innovation and uniqueness of the solution</a:t>
            </a:r>
          </a:p>
          <a:p>
            <a:pPr>
              <a:spcBef>
                <a:spcPts val="500"/>
              </a:spcBef>
              <a:defRPr sz="950">
                <a:solidFill>
                  <a:srgbClr val="F8FAFC"/>
                </a:solidFill>
              </a:defRPr>
            </a:pPr>
            <a:r>
              <a:t>▪ Proof, not probability — the passport chip is signed by the issuing state; verifying it makes any altered field fail mathematically, not statistically</a:t>
            </a:r>
          </a:p>
          <a:p>
            <a:pPr>
              <a:spcBef>
                <a:spcPts val="500"/>
              </a:spcBef>
              <a:defRPr sz="950">
                <a:solidFill>
                  <a:srgbClr val="F8FAFC"/>
                </a:solidFill>
              </a:defRPr>
            </a:pPr>
            <a:r>
              <a:t>▪ Contradiction as evidence — an MRZ-versus-print mismatch is treated as a forgery signal, where other systems smooth it over as an OCR error</a:t>
            </a:r>
          </a:p>
          <a:p>
            <a:pPr>
              <a:spcBef>
                <a:spcPts val="500"/>
              </a:spcBef>
              <a:defRPr sz="950">
                <a:solidFill>
                  <a:srgbClr val="F8FAFC"/>
                </a:solidFill>
              </a:defRPr>
            </a:pPr>
            <a:r>
              <a:t>▪ Explainable by design — every alert names the check that fired, shows where, and states plainly what could NOT be verified</a:t>
            </a:r>
          </a:p>
          <a:p>
            <a:pPr>
              <a:spcBef>
                <a:spcPts val="500"/>
              </a:spcBef>
              <a:defRPr sz="950">
                <a:solidFill>
                  <a:srgbClr val="F8FAFC"/>
                </a:solidFill>
              </a:defRPr>
            </a:pPr>
            <a:r>
              <a:t>▪ Catches unknown forgeries — databases only find documents already reported; our AI finds the forgery made last week that is on no list anywhere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39496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4A3B8"/>
                </a:solidFill>
              </a:defRPr>
            </a:pPr>
            <a:r>
              <a:t>Output of every screening — one decision, named reasons, full evidence: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623560"/>
            <a:ext cx="3611880" cy="7315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CLEAR</a:t>
            </a:r>
          </a:p>
          <a:p>
            <a:pPr algn="ctr">
              <a:defRPr sz="950" b="1">
                <a:solidFill>
                  <a:srgbClr val="F8FAFC"/>
                </a:solidFill>
              </a:defRPr>
            </a:pPr>
            <a:r>
              <a:t>all checks passed · traveller proceeds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9392" y="5623560"/>
            <a:ext cx="3611880" cy="7315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REVIEW</a:t>
            </a:r>
          </a:p>
          <a:p>
            <a:pPr algn="ctr">
              <a:defRPr sz="950" b="1">
                <a:solidFill>
                  <a:srgbClr val="F8FAFC"/>
                </a:solidFill>
              </a:defRPr>
            </a:pPr>
            <a:r>
              <a:t>secondary inspection with named reasons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5623560"/>
            <a:ext cx="3611880" cy="73152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REFER</a:t>
            </a:r>
          </a:p>
          <a:p>
            <a:pPr algn="ctr">
              <a:defRPr sz="950" b="1">
                <a:solidFill>
                  <a:srgbClr val="F8FAFC"/>
                </a:solidFill>
              </a:defRPr>
            </a:pPr>
            <a:r>
              <a:t>hard-fail evidence · chip, checksum or watchlist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solidFill>
            <a:srgbClr val="121A2F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/>
          <a:lstStyle/>
          <a:p>
            <a:pPr algn="ctr">
              <a:defRPr sz="2000" b="1">
                <a:solidFill>
                  <a:srgbClr val="F8FAFC"/>
                </a:solidFill>
                <a:latin typeface="Arial"/>
              </a:defRPr>
            </a:pPr>
            <a:r>
              <a:t>TECHNICAL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79" y="384048"/>
            <a:ext cx="3931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6B6D4"/>
                </a:solidFill>
                <a:latin typeface="Arial"/>
              </a:defRPr>
            </a:pPr>
            <a:r>
              <a:t>Team: Digital Warriors  |  Slide 3/6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5394960" cy="3931920"/>
          </a:xfrm>
          <a:prstGeom prst="roundRect">
            <a:avLst/>
          </a:prstGeom>
          <a:solidFill>
            <a:srgbClr val="121A2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150" b="1">
                <a:solidFill>
                  <a:srgbClr val="06B6D4"/>
                </a:solidFill>
              </a:defRPr>
            </a:pPr>
            <a:r>
              <a:t>Technologies to be used (e.g. programming languages, frameworks, hardware)</a:t>
            </a:r>
          </a:p>
          <a:p>
            <a:pPr>
              <a:spcBef>
                <a:spcPts val="350"/>
              </a:spcBef>
              <a:defRPr sz="900">
                <a:solidFill>
                  <a:srgbClr val="F8FAFC"/>
                </a:solidFill>
              </a:defRPr>
            </a:pPr>
            <a:r>
              <a:t>▪ OCR &amp; vision — PaddleOCR PP-OCRv4, TrOCR, LayoutLMv3, YOLOv8-seg, OpenCV</a:t>
            </a:r>
          </a:p>
          <a:p>
            <a:pPr>
              <a:spcBef>
                <a:spcPts val="350"/>
              </a:spcBef>
              <a:defRPr sz="900">
                <a:solidFill>
                  <a:srgbClr val="F8FAFC"/>
                </a:solidFill>
              </a:defRPr>
            </a:pPr>
            <a:r>
              <a:t>▪ Tampering — TruFor, DocTamper, MVSS-Net + ELA, DCT double-JPEG, Noiseprint++, SIFT copy-move, ExifTool, pikepdf</a:t>
            </a:r>
          </a:p>
          <a:p>
            <a:pPr>
              <a:spcBef>
                <a:spcPts val="350"/>
              </a:spcBef>
              <a:defRPr sz="900">
                <a:solidFill>
                  <a:srgbClr val="F8FAFC"/>
                </a:solidFill>
              </a:defRPr>
            </a:pPr>
            <a:r>
              <a:t>▪ Face — InsightFace SCRFD + AdaFace, Silent-Face PAD, differential morphing-attack detection</a:t>
            </a:r>
          </a:p>
          <a:p>
            <a:pPr>
              <a:spcBef>
                <a:spcPts val="350"/>
              </a:spcBef>
              <a:defRPr sz="900">
                <a:solidFill>
                  <a:srgbClr val="F8FAFC"/>
                </a:solidFill>
              </a:defRPr>
            </a:pPr>
            <a:r>
              <a:t>▪ Chip &amp; crypto — BAC/PACE access, Passive Authentication of the SOD, JMRTD, pymrtd, ICAO PKD trust anchors</a:t>
            </a:r>
          </a:p>
          <a:p>
            <a:pPr>
              <a:spcBef>
                <a:spcPts val="350"/>
              </a:spcBef>
              <a:defRPr sz="900">
                <a:solidFill>
                  <a:srgbClr val="F8FAFC"/>
                </a:solidFill>
              </a:defRPr>
            </a:pPr>
            <a:r>
              <a:t>▪ Risk &amp; fusion — XGBoost with isotonic calibration, SHAP explanations, rule engine</a:t>
            </a:r>
          </a:p>
          <a:p>
            <a:pPr>
              <a:spcBef>
                <a:spcPts val="350"/>
              </a:spcBef>
              <a:defRPr sz="900">
                <a:solidFill>
                  <a:srgbClr val="F8FAFC"/>
                </a:solidFill>
              </a:defRPr>
            </a:pPr>
            <a:r>
              <a:t>▪ Platform — Python, FastAPI, PostgreSQL, Milvus, MinIO, ONNX Runtime / TensorRT INT8, React + TypeScript</a:t>
            </a:r>
          </a:p>
          <a:p>
            <a:pPr>
              <a:spcBef>
                <a:spcPts val="350"/>
              </a:spcBef>
              <a:defRPr sz="900">
                <a:solidFill>
                  <a:srgbClr val="F8FAFC"/>
                </a:solidFill>
              </a:defRPr>
            </a:pPr>
            <a:r>
              <a:t>▪ Hardware — VIS/IR/UV document reader, NFC reader (ACR1252U), RGB+IR camera, edge GPU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34440"/>
            <a:ext cx="5425135" cy="3931920"/>
          </a:xfrm>
          <a:prstGeom prst="roundRect">
            <a:avLst/>
          </a:prstGeom>
          <a:solidFill>
            <a:srgbClr val="121A2F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150" b="1">
                <a:solidFill>
                  <a:srgbClr val="10B981"/>
                </a:solidFill>
              </a:defRPr>
            </a:pPr>
            <a:r>
              <a:t>Methodology and process for implementation</a:t>
            </a:r>
          </a:p>
          <a:p>
            <a:pPr>
              <a:spcBef>
                <a:spcPts val="350"/>
              </a:spcBef>
              <a:defRPr sz="900">
                <a:solidFill>
                  <a:srgbClr val="F8FAFC"/>
                </a:solidFill>
              </a:defRPr>
            </a:pPr>
            <a:r>
              <a:t>▪ Capture once, then run all five modules in parallel — nothing waits in a queue behind another module</a:t>
            </a:r>
          </a:p>
          <a:p>
            <a:pPr>
              <a:spcBef>
                <a:spcPts val="350"/>
              </a:spcBef>
              <a:defRPr sz="900">
                <a:solidFill>
                  <a:srgbClr val="F8FAFC"/>
                </a:solidFill>
              </a:defRPr>
            </a:pPr>
            <a:r>
              <a:t>▪ Deterministic checks first: check digits and chip signature can hard-fail a document before any model is consulted</a:t>
            </a:r>
          </a:p>
          <a:p>
            <a:pPr>
              <a:spcBef>
                <a:spcPts val="350"/>
              </a:spcBef>
              <a:defRPr sz="900">
                <a:solidFill>
                  <a:srgbClr val="F8FAFC"/>
                </a:solidFill>
              </a:defRPr>
            </a:pPr>
            <a:r>
              <a:t>▪ Soft signals feed a calibrated fusion model, so a risk of 0.7 means seven in ten such cases were fraudulent</a:t>
            </a:r>
          </a:p>
          <a:p>
            <a:pPr>
              <a:spcBef>
                <a:spcPts val="350"/>
              </a:spcBef>
              <a:defRPr sz="900">
                <a:solidFill>
                  <a:srgbClr val="F8FAFC"/>
                </a:solidFill>
              </a:defRPr>
            </a:pPr>
            <a:r>
              <a:t>▪ Officer console shows decision, top three reasons, heatmap and face comparison on one screen</a:t>
            </a:r>
          </a:p>
          <a:p>
            <a:pPr>
              <a:spcBef>
                <a:spcPts val="350"/>
              </a:spcBef>
              <a:defRPr sz="900">
                <a:solidFill>
                  <a:srgbClr val="F8FAFC"/>
                </a:solidFill>
              </a:defRPr>
            </a:pPr>
            <a:r>
              <a:t>▪ Every override is logged with a reason and feeds retraining; every decision is signed and hash-chained</a:t>
            </a:r>
          </a:p>
          <a:p>
            <a:pPr>
              <a:spcBef>
                <a:spcPts val="350"/>
              </a:spcBef>
              <a:defRPr sz="900">
                <a:solidFill>
                  <a:srgbClr val="F8FAFC"/>
                </a:solidFill>
              </a:defRPr>
            </a:pPr>
            <a:r>
              <a:t>▪ Models exported to ONNX and quantised to INT8 to hold the latency budget on an affordable GPU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303520"/>
            <a:ext cx="11094415" cy="1097280"/>
          </a:xfrm>
          <a:prstGeom prst="roundRect">
            <a:avLst/>
          </a:prstGeom>
          <a:solidFill>
            <a:srgbClr val="0D142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34924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3B82F6"/>
                </a:solidFill>
              </a:defRPr>
            </a:pPr>
            <a:r>
              <a:t>CAPTURE</a:t>
            </a:r>
            <a:br/>
            <a:r>
              <a:t>reader · camera · NFC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5349240"/>
            <a:ext cx="3657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94A3B8"/>
                </a:solidFill>
              </a:defRPr>
            </a:pPr>
            <a:r>
              <a:t>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534924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06B6D4"/>
                </a:solidFill>
              </a:defRPr>
            </a:pPr>
            <a:r>
              <a:t>QUALITY GATE</a:t>
            </a:r>
            <a:br/>
            <a:r>
              <a:t>dewarp · deglare · DPI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5349240"/>
            <a:ext cx="3657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94A3B8"/>
                </a:solidFill>
              </a:defRPr>
            </a:pPr>
            <a:r>
              <a:t>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534924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F59E0B"/>
                </a:solidFill>
              </a:defRPr>
            </a:pPr>
            <a:r>
              <a:t>PARALLEL MODULES</a:t>
            </a:r>
            <a:br/>
            <a:r>
              <a:t>M1 OCR · M2 Validation</a:t>
            </a:r>
            <a:br/>
            <a:r>
              <a:t>M3 Tampering · M4 Face · M5 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5349240"/>
            <a:ext cx="3657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94A3B8"/>
                </a:solidFill>
              </a:defRPr>
            </a:pPr>
            <a:r>
              <a:t>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534924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F59E0B"/>
                </a:solidFill>
              </a:defRPr>
            </a:pPr>
            <a:r>
              <a:t>RISK ENGINE</a:t>
            </a:r>
            <a:br/>
            <a:r>
              <a:t>hard fails + calibrated fusion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0" y="5349240"/>
            <a:ext cx="3657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94A3B8"/>
                </a:solidFill>
              </a:defRPr>
            </a:pPr>
            <a:r>
              <a:t>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534924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10B981"/>
                </a:solidFill>
              </a:defRPr>
            </a:pPr>
            <a:r>
              <a:t>OFFICER CONSOLE</a:t>
            </a:r>
            <a:br/>
            <a:r>
              <a:t>CLEAR / REVIEW / REFER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solidFill>
            <a:srgbClr val="121A2F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/>
          <a:lstStyle/>
          <a:p>
            <a:pPr algn="ctr">
              <a:defRPr sz="2000" b="1">
                <a:solidFill>
                  <a:srgbClr val="F8FAFC"/>
                </a:solidFill>
                <a:latin typeface="Arial"/>
              </a:defRPr>
            </a:pPr>
            <a:r>
              <a:t>FEASIBILITY AND VIABILITY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79" y="384048"/>
            <a:ext cx="3931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6B6D4"/>
                </a:solidFill>
                <a:latin typeface="Arial"/>
              </a:defRPr>
            </a:pPr>
            <a:r>
              <a:t>Team: Digital Warriors  |  Slide 4/6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5394960" cy="3931920"/>
          </a:xfrm>
          <a:prstGeom prst="roundRect">
            <a:avLst/>
          </a:prstGeom>
          <a:solidFill>
            <a:srgbClr val="121A2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200" b="1">
                <a:solidFill>
                  <a:srgbClr val="06B6D4"/>
                </a:solidFill>
              </a:defRPr>
            </a:pPr>
            <a:r>
              <a:t>Analysis of the feasibility of the idea</a:t>
            </a:r>
          </a:p>
          <a:p>
            <a:pPr>
              <a:spcBef>
                <a:spcPts val="350"/>
              </a:spcBef>
              <a:defRPr sz="900">
                <a:solidFill>
                  <a:srgbClr val="F8FAFC"/>
                </a:solidFill>
              </a:defRPr>
            </a:pPr>
            <a:r>
              <a:t>▪ Every AI module is buildable now with zero external access — public datasets (MIDV-2020, MIDV-Holo, DocTamper, SIDTD, DocXPand) and released pretrained weights</a:t>
            </a:r>
          </a:p>
          <a:p>
            <a:pPr>
              <a:spcBef>
                <a:spcPts val="350"/>
              </a:spcBef>
              <a:defRPr sz="900">
                <a:solidFill>
                  <a:srgbClr val="F8FAFC"/>
                </a:solidFill>
              </a:defRPr>
            </a:pPr>
            <a:r>
              <a:t>▪ Chip verification is demonstrable today: a ₹4,000 NFC reader plus a publicly published CSCA master list</a:t>
            </a:r>
          </a:p>
          <a:p>
            <a:pPr>
              <a:spcBef>
                <a:spcPts val="350"/>
              </a:spcBef>
              <a:defRPr sz="900">
                <a:solidFill>
                  <a:srgbClr val="F8FAFC"/>
                </a:solidFill>
              </a:defRPr>
            </a:pPr>
            <a:r>
              <a:t>▪ Public data usable immediately — UN and OFAC sanctions lists, and Aadhaar secure-QR verified against UIDAI's public certificate (no licence required)</a:t>
            </a:r>
          </a:p>
          <a:p>
            <a:pPr>
              <a:spcBef>
                <a:spcPts val="350"/>
              </a:spcBef>
              <a:defRPr sz="900">
                <a:solidFill>
                  <a:srgbClr val="F8FAFC"/>
                </a:solidFill>
              </a:defRPr>
            </a:pPr>
            <a:r>
              <a:t>▪ Commodity hardware: a single edge GPU per lane, no datacentre</a:t>
            </a:r>
          </a:p>
          <a:p>
            <a:pPr>
              <a:spcBef>
                <a:spcPts val="350"/>
              </a:spcBef>
              <a:defRPr sz="900">
                <a:solidFill>
                  <a:srgbClr val="F8FAFC"/>
                </a:solidFill>
              </a:defRPr>
            </a:pPr>
            <a:r>
              <a:t>▪ Standards are open and stable — ICAO Doc 9303 fully specifies the MRZ, chip and PKI we rely on</a:t>
            </a:r>
          </a:p>
          <a:p>
            <a:pPr>
              <a:spcBef>
                <a:spcPts val="350"/>
              </a:spcBef>
              <a:defRPr sz="900">
                <a:solidFill>
                  <a:srgbClr val="F8FAFC"/>
                </a:solidFill>
              </a:defRPr>
            </a:pPr>
            <a:r>
              <a:t>▪ Government lookups (Interpol SLTD, IVFRT, CCTNS, ICAO PKD) sit behind documented adapters with clearly labelled simulators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34440"/>
            <a:ext cx="5425135" cy="3931920"/>
          </a:xfrm>
          <a:prstGeom prst="roundRect">
            <a:avLst/>
          </a:prstGeom>
          <a:solidFill>
            <a:srgbClr val="121A2F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150" b="1">
                <a:solidFill>
                  <a:srgbClr val="F59E0B"/>
                </a:solidFill>
              </a:defRPr>
            </a:pPr>
            <a:r>
              <a:t>Potential challenges and risks → Strategies for overcoming them</a:t>
            </a:r>
          </a:p>
          <a:p>
            <a:pPr>
              <a:spcBef>
                <a:spcPts val="350"/>
              </a:spcBef>
              <a:defRPr sz="880">
                <a:solidFill>
                  <a:srgbClr val="F8FAFC"/>
                </a:solidFill>
              </a:defRPr>
            </a:pPr>
            <a:r>
              <a:t>▪ False alarms erode officer trust → Tune on false-positive rate at fixed detection rate; shadow-mode pilot before live decisions.</a:t>
            </a:r>
          </a:p>
          <a:p>
            <a:pPr>
              <a:spcBef>
                <a:spcPts val="350"/>
              </a:spcBef>
              <a:defRPr sz="880">
                <a:solidFill>
                  <a:srgbClr val="F8FAFC"/>
                </a:solidFill>
              </a:defRPr>
            </a:pPr>
            <a:r>
              <a:t>▪ No public training data for Nepali/Bhutanese docs → Programmatic forgery generation over synthetic templates only under SSB authorization.</a:t>
            </a:r>
          </a:p>
          <a:p>
            <a:pPr>
              <a:spcBef>
                <a:spcPts val="350"/>
              </a:spcBef>
              <a:defRPr sz="880">
                <a:solidFill>
                  <a:srgbClr val="F8FAFC"/>
                </a:solidFill>
              </a:defRPr>
            </a:pPr>
            <a:r>
              <a:t>▪ Forgers adapt to deployed model → Signal diversity (font, print-tech, UV checks); adversarial retraining and rapid rollback.</a:t>
            </a:r>
          </a:p>
          <a:p>
            <a:pPr>
              <a:spcBef>
                <a:spcPts val="350"/>
              </a:spcBef>
              <a:defRPr sz="880">
                <a:solidFill>
                  <a:srgbClr val="F8FAFC"/>
                </a:solidFill>
              </a:defRPr>
            </a:pPr>
            <a:r>
              <a:t>▪ Demographic bias in face matching → Stratified error reporting by nationality, sex, age; calibrated per NIST FRVT practice.</a:t>
            </a:r>
          </a:p>
          <a:p>
            <a:pPr>
              <a:spcBef>
                <a:spcPts val="350"/>
              </a:spcBef>
              <a:defRPr sz="880">
                <a:solidFill>
                  <a:srgbClr val="F8FAFC"/>
                </a:solidFill>
              </a:defRPr>
            </a:pPr>
            <a:r>
              <a:t>▪ Data protection under DPDP &amp; Aadhaar Act → On-premise only, Aadhaar masked, keys in HSM, hash-chained audit log.</a:t>
            </a:r>
          </a:p>
          <a:p>
            <a:pPr>
              <a:spcBef>
                <a:spcPts val="350"/>
              </a:spcBef>
              <a:defRPr sz="880">
                <a:solidFill>
                  <a:srgbClr val="F8FAFC"/>
                </a:solidFill>
              </a:defRPr>
            </a:pPr>
            <a:r>
              <a:t>▪ Visible-light photos limit detection → Software works on ordinary images; improves with VIS/IR/UV reader + chip verification.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303520"/>
            <a:ext cx="11094415" cy="1097280"/>
          </a:xfrm>
          <a:prstGeom prst="roundRect">
            <a:avLst/>
          </a:prstGeom>
          <a:solidFill>
            <a:srgbClr val="0D142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34924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PHASE 1 · Internal Round</a:t>
            </a:r>
          </a:p>
          <a:p>
            <a:pPr>
              <a:defRPr sz="850">
                <a:solidFill>
                  <a:srgbClr val="F8FAFC"/>
                </a:solidFill>
              </a:defRPr>
            </a:pPr>
            <a:r>
              <a:t>MRZ pipeline · check-digit validation · rule engine · classical tampering ensemble · face matching · officer console · mocked adapters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534924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PHASE 2 · Grand Finale</a:t>
            </a:r>
          </a:p>
          <a:p>
            <a:pPr>
              <a:defRPr sz="850">
                <a:solidFill>
                  <a:srgbClr val="F8FAFC"/>
                </a:solidFill>
              </a:defRPr>
            </a:pPr>
            <a:r>
              <a:t>ePassport chip Passive Authentication · synthetic forgery training · 1:N deduplication · calibrated fusion with SHAP · ONNX optimisation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534924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PHASE 3 · With Department</a:t>
            </a:r>
          </a:p>
          <a:p>
            <a:pPr>
              <a:defRPr sz="850">
                <a:solidFill>
                  <a:srgbClr val="F8FAFC"/>
                </a:solidFill>
              </a:defRPr>
            </a:pPr>
            <a:r>
              <a:t>VIS/IR/UV reader · ICAO PKD and Interpol SLTD under MHA authorisation · CERT-In audit · shadow-mode pilot at live checkpoint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solidFill>
            <a:srgbClr val="121A2F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/>
          <a:lstStyle/>
          <a:p>
            <a:pPr algn="ctr">
              <a:defRPr sz="2000" b="1">
                <a:solidFill>
                  <a:srgbClr val="F8FAFC"/>
                </a:solidFill>
                <a:latin typeface="Arial"/>
              </a:defRPr>
            </a:pPr>
            <a:r>
              <a:t>IMPACT AND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79" y="384048"/>
            <a:ext cx="3931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6B6D4"/>
                </a:solidFill>
                <a:latin typeface="Arial"/>
              </a:defRPr>
            </a:pPr>
            <a:r>
              <a:t>Team: Digital Warriors  |  Slide 5/6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3611880" cy="868680"/>
          </a:xfrm>
          <a:prstGeom prst="roundRect">
            <a:avLst/>
          </a:prstGeom>
          <a:solidFill>
            <a:srgbClr val="0D1426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2200" b="1">
                <a:solidFill>
                  <a:srgbClr val="06B6D4"/>
                </a:solidFill>
              </a:defRPr>
            </a:pPr>
            <a:r>
              <a:t>&lt; 3 sec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per document, versus several minutes manually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79392" y="1234440"/>
            <a:ext cx="3611880" cy="868680"/>
          </a:xfrm>
          <a:prstGeom prst="roundRect">
            <a:avLst/>
          </a:prstGeom>
          <a:solidFill>
            <a:srgbClr val="0D1426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2200" b="1">
                <a:solidFill>
                  <a:srgbClr val="10B981"/>
                </a:solidFill>
              </a:defRPr>
            </a:pPr>
            <a:r>
              <a:t>4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independent face comparisons per traveller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0144" y="1234440"/>
            <a:ext cx="3611880" cy="868680"/>
          </a:xfrm>
          <a:prstGeom prst="roundRect">
            <a:avLst/>
          </a:prstGeom>
          <a:solidFill>
            <a:srgbClr val="0D1426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2200" b="1">
                <a:solidFill>
                  <a:srgbClr val="F59E0B"/>
                </a:solidFill>
              </a:defRPr>
            </a:pPr>
            <a:r>
              <a:t>100%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 decisions logged with a signed, tamper-evident trail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40280"/>
            <a:ext cx="5394960" cy="2651760"/>
          </a:xfrm>
          <a:prstGeom prst="roundRect">
            <a:avLst/>
          </a:prstGeom>
          <a:solidFill>
            <a:srgbClr val="121A2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200" b="1">
                <a:solidFill>
                  <a:srgbClr val="06B6D4"/>
                </a:solidFill>
              </a:defRPr>
            </a:pPr>
            <a:r>
              <a:t>Potential impact on the target audience</a:t>
            </a:r>
          </a:p>
          <a:p>
            <a:pPr>
              <a:spcBef>
                <a:spcPts val="300"/>
              </a:spcBef>
              <a:defRPr sz="900">
                <a:solidFill>
                  <a:srgbClr val="F8FAFC"/>
                </a:solidFill>
              </a:defRPr>
            </a:pPr>
            <a:r>
              <a:t>▪ Border officers (SSB, Bureau of Immigration) — screening collapses from minutes to seconds; decisions rest on evidence rather than shift fatigue</a:t>
            </a:r>
          </a:p>
          <a:p>
            <a:pPr>
              <a:spcBef>
                <a:spcPts val="300"/>
              </a:spcBef>
              <a:defRPr sz="900">
                <a:solidFill>
                  <a:srgbClr val="F8FAFC"/>
                </a:solidFill>
              </a:defRPr>
            </a:pPr>
            <a:r>
              <a:t>▪ Travellers — genuine documents clear quickly, queues shorten; flagged travellers get named reasons and documented route to redress</a:t>
            </a:r>
          </a:p>
          <a:p>
            <a:pPr>
              <a:spcBef>
                <a:spcPts val="300"/>
              </a:spcBef>
              <a:defRPr sz="900">
                <a:solidFill>
                  <a:srgbClr val="F8FAFC"/>
                </a:solidFill>
              </a:defRPr>
            </a:pPr>
            <a:r>
              <a:t>▪ Investigators and prosecutors — signed, hash-chained record per crossing with Section 63 electronic-evidence certificate generated automatically</a:t>
            </a:r>
          </a:p>
          <a:p>
            <a:pPr>
              <a:spcBef>
                <a:spcPts val="300"/>
              </a:spcBef>
              <a:defRPr sz="900">
                <a:solidFill>
                  <a:srgbClr val="F8FAFC"/>
                </a:solidFill>
              </a:defRPr>
            </a:pPr>
            <a:r>
              <a:t>▪ Ministry of Home Affairs — same forgery scores identical at every checkpoint, creating national verification standard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240280"/>
            <a:ext cx="5425135" cy="2651760"/>
          </a:xfrm>
          <a:prstGeom prst="roundRect">
            <a:avLst/>
          </a:prstGeom>
          <a:solidFill>
            <a:srgbClr val="121A2F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Benefits of the solution (social, economic, environmental)</a:t>
            </a:r>
          </a:p>
          <a:p>
            <a:pPr>
              <a:spcBef>
                <a:spcPts val="300"/>
              </a:spcBef>
              <a:defRPr sz="900">
                <a:solidFill>
                  <a:srgbClr val="F8FAFC"/>
                </a:solidFill>
              </a:defRPr>
            </a:pPr>
            <a:r>
              <a:t>▪ Security — detects tampering/impersonation without watchlists, including morphed photos</a:t>
            </a:r>
          </a:p>
          <a:p>
            <a:pPr>
              <a:spcBef>
                <a:spcPts val="300"/>
              </a:spcBef>
              <a:defRPr sz="900">
                <a:solidFill>
                  <a:srgbClr val="F8FAFC"/>
                </a:solidFill>
              </a:defRPr>
            </a:pPr>
            <a:r>
              <a:t>▪ Social — consistent non-arbitrary counter treatment; error rates measured across demographics</a:t>
            </a:r>
          </a:p>
          <a:p>
            <a:pPr>
              <a:spcBef>
                <a:spcPts val="300"/>
              </a:spcBef>
              <a:defRPr sz="900">
                <a:solidFill>
                  <a:srgbClr val="F8FAFC"/>
                </a:solidFill>
              </a:defRPr>
            </a:pPr>
            <a:r>
              <a:t>▪ Economic — higher throughput without adding posts; commodity hardware avoids costly SDK licensing</a:t>
            </a:r>
          </a:p>
          <a:p>
            <a:pPr>
              <a:spcBef>
                <a:spcPts val="300"/>
              </a:spcBef>
              <a:defRPr sz="900">
                <a:solidFill>
                  <a:srgbClr val="F8FAFC"/>
                </a:solidFill>
              </a:defRPr>
            </a:pPr>
            <a:r>
              <a:t>▪ Operational &amp; Environmental — offline-first at low-connectivity posts; digital evidence eliminates paper case files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029200"/>
            <a:ext cx="5394960" cy="1417320"/>
          </a:xfrm>
          <a:prstGeom prst="rect">
            <a:avLst/>
          </a:prstGeom>
          <a:solidFill>
            <a:srgbClr val="1E141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1100" b="1">
                <a:solidFill>
                  <a:srgbClr val="EF4444"/>
                </a:solidFill>
              </a:defRPr>
            </a:pPr>
            <a:r>
              <a:t>TODAY — MANUAL INSPECTION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• Several minutes per document at the counter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• Depends on officer shift fatigue and queue pressure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• Sophisticated forgeries routinely missed by eye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• No audit record of why traveller was cleared or stopped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5029200"/>
            <a:ext cx="5425135" cy="1417320"/>
          </a:xfrm>
          <a:prstGeom prst="rect">
            <a:avLst/>
          </a:prstGeom>
          <a:solidFill>
            <a:srgbClr val="0F1E19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WITH SATYAPAN</a:t>
            </a:r>
          </a:p>
          <a:p>
            <a:pPr>
              <a:defRPr sz="850">
                <a:solidFill>
                  <a:srgbClr val="F8FAFC"/>
                </a:solidFill>
              </a:defRPr>
            </a:pPr>
            <a:r>
              <a:t>• Under three seconds, with the officer still deciding</a:t>
            </a:r>
          </a:p>
          <a:p>
            <a:pPr>
              <a:defRPr sz="850">
                <a:solidFill>
                  <a:srgbClr val="F8FAFC"/>
                </a:solidFill>
              </a:defRPr>
            </a:pPr>
            <a:r>
              <a:t>• The same forgery scores identically at every checkpoint</a:t>
            </a:r>
          </a:p>
          <a:p>
            <a:pPr>
              <a:defRPr sz="850">
                <a:solidFill>
                  <a:srgbClr val="F8FAFC"/>
                </a:solidFill>
              </a:defRPr>
            </a:pPr>
            <a:r>
              <a:t>• Chip-verified proof plus multi-signal explainable AI ensemble</a:t>
            </a:r>
          </a:p>
          <a:p>
            <a:pPr>
              <a:defRPr sz="850">
                <a:solidFill>
                  <a:srgbClr val="F8FAFC"/>
                </a:solidFill>
              </a:defRPr>
            </a:pPr>
            <a:r>
              <a:t>• Signed, hash-chained electronic evidence trail for every decision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solidFill>
            <a:srgbClr val="121A2F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/>
          <a:lstStyle/>
          <a:p>
            <a:pPr algn="ctr">
              <a:defRPr sz="2000" b="1">
                <a:solidFill>
                  <a:srgbClr val="F8FAFC"/>
                </a:solidFill>
                <a:latin typeface="Arial"/>
              </a:defRPr>
            </a:pPr>
            <a:r>
              <a:t>RESEARCH AND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79" y="384048"/>
            <a:ext cx="3931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6B6D4"/>
                </a:solidFill>
                <a:latin typeface="Arial"/>
              </a:defRPr>
            </a:pPr>
            <a:r>
              <a:t>Team: Digital Warriors  |  Slide 6/6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5425135" cy="246888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/>
          <a:lstStyle/>
          <a:p>
            <a:pPr algn="ctr">
              <a:defRPr sz="1150" b="1">
                <a:solidFill>
                  <a:srgbClr val="3B82F6"/>
                </a:solidFill>
              </a:defRPr>
            </a:pPr>
            <a:r>
              <a:t>Standards &amp; Specifications</a:t>
            </a:r>
          </a:p>
          <a:p>
            <a:pPr>
              <a:spcBef>
                <a:spcPts val="300"/>
              </a:spcBef>
              <a:defRPr sz="850">
                <a:solidFill>
                  <a:srgbClr val="F8FAFC"/>
                </a:solidFill>
              </a:defRPr>
            </a:pPr>
            <a:r>
              <a:t>▪ ICAO Doc 9303, Parts 3, 4, 10, 11 and 12 — machine readable travel documents, logical data structure and PKI (icao.int)</a:t>
            </a:r>
          </a:p>
          <a:p>
            <a:pPr>
              <a:spcBef>
                <a:spcPts val="300"/>
              </a:spcBef>
              <a:defRPr sz="850">
                <a:solidFill>
                  <a:srgbClr val="F8FAFC"/>
                </a:solidFill>
              </a:defRPr>
            </a:pPr>
            <a:r>
              <a:t>▪ ICAO Public Key Directory — CSCA and document signer trust anchors (icao.int/Security/FAL/PKD)</a:t>
            </a:r>
          </a:p>
          <a:p>
            <a:pPr>
              <a:spcBef>
                <a:spcPts val="300"/>
              </a:spcBef>
              <a:defRPr sz="850">
                <a:solidFill>
                  <a:srgbClr val="F8FAFC"/>
                </a:solidFill>
              </a:defRPr>
            </a:pPr>
            <a:r>
              <a:t>▪ ISO/IEC 30107-3 — presentation attack detection reporting; ISO/IEC 19794-5 and 39794-5 — face image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34440"/>
            <a:ext cx="5425135" cy="246888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/>
          <a:lstStyle/>
          <a:p>
            <a:pPr algn="ctr">
              <a:defRPr sz="1150" b="1">
                <a:solidFill>
                  <a:srgbClr val="10B981"/>
                </a:solidFill>
              </a:defRPr>
            </a:pPr>
            <a:r>
              <a:t>Models &amp; Methods</a:t>
            </a:r>
          </a:p>
          <a:p>
            <a:pPr>
              <a:spcBef>
                <a:spcPts val="300"/>
              </a:spcBef>
              <a:defRPr sz="850">
                <a:solidFill>
                  <a:srgbClr val="F8FAFC"/>
                </a:solidFill>
              </a:defRPr>
            </a:pPr>
            <a:r>
              <a:t>▪ TruFor: Leveraging All-Round Clues for Trustworthy Image Forgery Detection and Localization — CVPR 2023</a:t>
            </a:r>
          </a:p>
          <a:p>
            <a:pPr>
              <a:spcBef>
                <a:spcPts val="300"/>
              </a:spcBef>
              <a:defRPr sz="850">
                <a:solidFill>
                  <a:srgbClr val="F8FAFC"/>
                </a:solidFill>
              </a:defRPr>
            </a:pPr>
            <a:r>
              <a:t>▪ CAT-Net: Compression Artifact Tracing Network for splicing localisation — IJCV 2022</a:t>
            </a:r>
          </a:p>
          <a:p>
            <a:pPr>
              <a:spcBef>
                <a:spcPts val="300"/>
              </a:spcBef>
              <a:defRPr sz="850">
                <a:solidFill>
                  <a:srgbClr val="F8FAFC"/>
                </a:solidFill>
              </a:defRPr>
            </a:pPr>
            <a:r>
              <a:t>▪ MVSS-Net++: multi-view multi-scale supervision for image manipulation detection — TPAMI 2022</a:t>
            </a:r>
          </a:p>
          <a:p>
            <a:pPr>
              <a:spcBef>
                <a:spcPts val="300"/>
              </a:spcBef>
              <a:defRPr sz="850">
                <a:solidFill>
                  <a:srgbClr val="F8FAFC"/>
                </a:solidFill>
              </a:defRPr>
            </a:pPr>
            <a:r>
              <a:t>▪ AdaFace: Quality Adaptive Margin for Face Recognition — CVPR 2022; ArcFace — CVPR 2019</a:t>
            </a:r>
          </a:p>
          <a:p>
            <a:pPr>
              <a:spcBef>
                <a:spcPts val="300"/>
              </a:spcBef>
              <a:defRPr sz="850">
                <a:solidFill>
                  <a:srgbClr val="F8FAFC"/>
                </a:solidFill>
              </a:defRPr>
            </a:pPr>
            <a:r>
              <a:t>▪ NIST FRVT Part 4 (MORPH) — morphing attack detection benchmark (nist.gov)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840480"/>
            <a:ext cx="5425135" cy="246888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/>
          <a:lstStyle/>
          <a:p>
            <a:pPr algn="ctr">
              <a:defRPr sz="1150" b="1">
                <a:solidFill>
                  <a:srgbClr val="06B6D4"/>
                </a:solidFill>
              </a:defRPr>
            </a:pPr>
            <a:r>
              <a:t>Datasets Referenced</a:t>
            </a:r>
          </a:p>
          <a:p>
            <a:pPr>
              <a:spcBef>
                <a:spcPts val="300"/>
              </a:spcBef>
              <a:defRPr sz="850">
                <a:solidFill>
                  <a:srgbClr val="F8FAFC"/>
                </a:solidFill>
              </a:defRPr>
            </a:pPr>
            <a:r>
              <a:t>▪ MIDV-500 / MIDV-2019 / MIDV-2020 — identity document images and video, Institute for Systems Analysis, RAS</a:t>
            </a:r>
          </a:p>
          <a:p>
            <a:pPr>
              <a:spcBef>
                <a:spcPts val="300"/>
              </a:spcBef>
              <a:defRPr sz="850">
                <a:solidFill>
                  <a:srgbClr val="F8FAFC"/>
                </a:solidFill>
              </a:defRPr>
            </a:pPr>
            <a:r>
              <a:t>▪ MIDV-Holo — holographic security feature forgery detection</a:t>
            </a:r>
          </a:p>
          <a:p>
            <a:pPr>
              <a:spcBef>
                <a:spcPts val="300"/>
              </a:spcBef>
              <a:defRPr sz="850">
                <a:solidFill>
                  <a:srgbClr val="F8FAFC"/>
                </a:solidFill>
              </a:defRPr>
            </a:pPr>
            <a:r>
              <a:t>▪ DocXPand-25k and SIDTD — synthetic and tampered identity documents</a:t>
            </a:r>
          </a:p>
          <a:p>
            <a:pPr>
              <a:spcBef>
                <a:spcPts val="300"/>
              </a:spcBef>
              <a:defRPr sz="850">
                <a:solidFill>
                  <a:srgbClr val="F8FAFC"/>
                </a:solidFill>
              </a:defRPr>
            </a:pPr>
            <a:r>
              <a:t>▪ DocTamper (2023) — document-specific tampering localisation</a:t>
            </a:r>
          </a:p>
          <a:p>
            <a:pPr>
              <a:spcBef>
                <a:spcPts val="300"/>
              </a:spcBef>
              <a:defRPr sz="850">
                <a:solidFill>
                  <a:srgbClr val="F8FAFC"/>
                </a:solidFill>
              </a:defRPr>
            </a:pPr>
            <a:r>
              <a:t>▪ FRLL-Morphs, SMDD — face morphing benchmarks; CASIA-SURF, OULU-NPU — presentation attack</a:t>
            </a:r>
          </a:p>
          <a:p>
            <a:pPr>
              <a:spcBef>
                <a:spcPts val="300"/>
              </a:spcBef>
              <a:defRPr sz="850">
                <a:solidFill>
                  <a:srgbClr val="F8FAFC"/>
                </a:solidFill>
              </a:defRPr>
            </a:pPr>
            <a:r>
              <a:t>▪ CASIA v2, IMD2020, DEFACTO, CoMoFoD — general image manipulation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840480"/>
            <a:ext cx="5425135" cy="246888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/>
          <a:lstStyle/>
          <a:p>
            <a:pPr algn="ctr">
              <a:defRPr sz="1150" b="1">
                <a:solidFill>
                  <a:srgbClr val="F59E0B"/>
                </a:solidFill>
              </a:defRPr>
            </a:pPr>
            <a:r>
              <a:t>Indian Systems, Legal Framework &amp; Hardware</a:t>
            </a:r>
          </a:p>
          <a:p>
            <a:pPr>
              <a:spcBef>
                <a:spcPts val="300"/>
              </a:spcBef>
              <a:defRPr sz="850">
                <a:solidFill>
                  <a:srgbClr val="F8FAFC"/>
                </a:solidFill>
              </a:defRPr>
            </a:pPr>
            <a:r>
              <a:t>▪ API Setu — NIC platform for government issuer APIs including Sarathi and Vahan (apisetu.gov.in)</a:t>
            </a:r>
          </a:p>
          <a:p>
            <a:pPr>
              <a:spcBef>
                <a:spcPts val="300"/>
              </a:spcBef>
              <a:defRPr sz="850">
                <a:solidFill>
                  <a:srgbClr val="F8FAFC"/>
                </a:solidFill>
              </a:defRPr>
            </a:pPr>
            <a:r>
              <a:t>▪ DigiLocker Partner APIs — issued document retrieval with citizen consent (partners.digitallocker.gov.in)</a:t>
            </a:r>
          </a:p>
          <a:p>
            <a:pPr>
              <a:spcBef>
                <a:spcPts val="300"/>
              </a:spcBef>
              <a:defRPr sz="850">
                <a:solidFill>
                  <a:srgbClr val="F8FAFC"/>
                </a:solidFill>
              </a:defRPr>
            </a:pPr>
            <a:r>
              <a:t>▪ UIDAI — Aadhaar secure QR code and paperless offline e-KYC specifications (uidai.gov.in)</a:t>
            </a:r>
          </a:p>
          <a:p>
            <a:pPr>
              <a:spcBef>
                <a:spcPts val="300"/>
              </a:spcBef>
              <a:defRPr sz="850">
                <a:solidFill>
                  <a:srgbClr val="F8FAFC"/>
                </a:solidFill>
              </a:defRPr>
            </a:pPr>
            <a:r>
              <a:t>▪ Legal: Digital Personal Data Protection Act 2023 Section 17(2)(a), Aadhaar Act 2016 Section 29, BSA 2023 Section 63</a:t>
            </a:r>
          </a:p>
          <a:p>
            <a:pPr>
              <a:spcBef>
                <a:spcPts val="300"/>
              </a:spcBef>
              <a:defRPr sz="850">
                <a:solidFill>
                  <a:srgbClr val="F8FAFC"/>
                </a:solidFill>
              </a:defRPr>
            </a:pPr>
            <a:r>
              <a:t>▪ Hardware: ACS ACR1252U NFC reader · Regula/Access-IS VIS/IR/UV readers · Intel RealSense · NVIDIA Jetson AGX Orin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